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ricolage Grotesque" charset="1" panose="020B0605040402000204"/>
      <p:regular r:id="rId13"/>
    </p:embeddedFont>
    <p:embeddedFont>
      <p:font typeface="HK Grotesk" charset="1" panose="00000500000000000000"/>
      <p:regular r:id="rId14"/>
    </p:embeddedFont>
    <p:embeddedFont>
      <p:font typeface="Gagalin" charset="1" panose="00000500000000000000"/>
      <p:regular r:id="rId15"/>
    </p:embeddedFont>
    <p:embeddedFont>
      <p:font typeface="Lora Bold" charset="1" panose="00000800000000000000"/>
      <p:regular r:id="rId16"/>
    </p:embeddedFont>
    <p:embeddedFont>
      <p:font typeface="Lora" charset="1" panose="00000500000000000000"/>
      <p:regular r:id="rId17"/>
    </p:embeddedFont>
    <p:embeddedFont>
      <p:font typeface="Inter Bold" charset="1" panose="02000503000000020004"/>
      <p:regular r:id="rId18"/>
    </p:embeddedFont>
    <p:embeddedFont>
      <p:font typeface="HK Grotesk Bold" charset="1" panose="00000800000000000000"/>
      <p:regular r:id="rId19"/>
    </p:embeddedFont>
    <p:embeddedFont>
      <p:font typeface="Arimo" charset="1" panose="020B0604020202020204"/>
      <p:regular r:id="rId20"/>
    </p:embeddedFont>
    <p:embeddedFont>
      <p:font typeface="Bricolage Grotesque Bold" charset="1" panose="020B060504040200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https://exam-planner-w3gayxhcc5qo6dgmfhgvyu.streamlit.app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56387" y="666750"/>
            <a:ext cx="7759788" cy="8953500"/>
            <a:chOff x="0" y="0"/>
            <a:chExt cx="1202194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2194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02194">
                  <a:moveTo>
                    <a:pt x="19954" y="0"/>
                  </a:moveTo>
                  <a:lnTo>
                    <a:pt x="1182240" y="0"/>
                  </a:lnTo>
                  <a:cubicBezTo>
                    <a:pt x="1187532" y="0"/>
                    <a:pt x="1192608" y="2102"/>
                    <a:pt x="1196350" y="5844"/>
                  </a:cubicBezTo>
                  <a:cubicBezTo>
                    <a:pt x="1200092" y="9586"/>
                    <a:pt x="1202194" y="14662"/>
                    <a:pt x="1202194" y="19954"/>
                  </a:cubicBezTo>
                  <a:lnTo>
                    <a:pt x="1202194" y="1367177"/>
                  </a:lnTo>
                  <a:cubicBezTo>
                    <a:pt x="1202194" y="1378198"/>
                    <a:pt x="1193261" y="1387131"/>
                    <a:pt x="1182240" y="1387131"/>
                  </a:cubicBezTo>
                  <a:lnTo>
                    <a:pt x="19954" y="1387131"/>
                  </a:lnTo>
                  <a:cubicBezTo>
                    <a:pt x="8934" y="1387131"/>
                    <a:pt x="0" y="1378198"/>
                    <a:pt x="0" y="1367177"/>
                  </a:cubicBezTo>
                  <a:lnTo>
                    <a:pt x="0" y="19954"/>
                  </a:lnTo>
                  <a:cubicBezTo>
                    <a:pt x="0" y="8934"/>
                    <a:pt x="8934" y="0"/>
                    <a:pt x="1995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42" r="0" b="-242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677043" y="6462606"/>
            <a:ext cx="3467057" cy="4305236"/>
            <a:chOff x="0" y="0"/>
            <a:chExt cx="4622743" cy="5740315"/>
          </a:xfrm>
        </p:grpSpPr>
        <p:sp>
          <p:nvSpPr>
            <p:cNvPr name="Freeform 5" id="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A8C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401462" y="854317"/>
            <a:ext cx="9803645" cy="8220408"/>
            <a:chOff x="0" y="0"/>
            <a:chExt cx="13071527" cy="1096054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00025"/>
              <a:ext cx="11367053" cy="721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2"/>
                </a:lnSpc>
                <a:spcBef>
                  <a:spcPct val="0"/>
                </a:spcBef>
              </a:pPr>
              <a:r>
                <a:rPr lang="en-US" sz="10492" spc="-629" strike="noStrike" u="sng">
                  <a:solidFill>
                    <a:srgbClr val="4A6E8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Exam Planner – AI-Based Study Planning System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28561" y="9286956"/>
              <a:ext cx="12742965" cy="1673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90"/>
                </a:lnSpc>
              </a:pPr>
              <a:r>
                <a:rPr lang="en-US" sz="3916">
                  <a:solidFill>
                    <a:srgbClr val="4A6E8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By Radhika Agarwal, CSE-AIML- D</a:t>
              </a:r>
            </a:p>
            <a:p>
              <a:pPr algn="l" marL="0" indent="0" lvl="0">
                <a:lnSpc>
                  <a:spcPts val="5090"/>
                </a:lnSpc>
              </a:pPr>
              <a:r>
                <a:rPr lang="en-US" sz="3916">
                  <a:solidFill>
                    <a:srgbClr val="4A6E8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Event : DeepMind GenAI Bootcamp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2408" y="-295776"/>
            <a:ext cx="7385870" cy="10878553"/>
            <a:chOff x="0" y="0"/>
            <a:chExt cx="1144265" cy="16853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4265" cy="1685373"/>
            </a:xfrm>
            <a:custGeom>
              <a:avLst/>
              <a:gdLst/>
              <a:ahLst/>
              <a:cxnLst/>
              <a:rect r="r" b="b" t="t" l="l"/>
              <a:pathLst>
                <a:path h="1685373" w="1144265">
                  <a:moveTo>
                    <a:pt x="20964" y="0"/>
                  </a:moveTo>
                  <a:lnTo>
                    <a:pt x="1123300" y="0"/>
                  </a:lnTo>
                  <a:cubicBezTo>
                    <a:pt x="1128860" y="0"/>
                    <a:pt x="1134193" y="2209"/>
                    <a:pt x="1138124" y="6140"/>
                  </a:cubicBezTo>
                  <a:cubicBezTo>
                    <a:pt x="1142056" y="10072"/>
                    <a:pt x="1144265" y="15404"/>
                    <a:pt x="1144265" y="20964"/>
                  </a:cubicBezTo>
                  <a:lnTo>
                    <a:pt x="1144265" y="1664408"/>
                  </a:lnTo>
                  <a:cubicBezTo>
                    <a:pt x="1144265" y="1675986"/>
                    <a:pt x="1134879" y="1685373"/>
                    <a:pt x="1123300" y="1685373"/>
                  </a:cubicBezTo>
                  <a:lnTo>
                    <a:pt x="20964" y="1685373"/>
                  </a:lnTo>
                  <a:cubicBezTo>
                    <a:pt x="15404" y="1685373"/>
                    <a:pt x="10072" y="1683164"/>
                    <a:pt x="6140" y="1679232"/>
                  </a:cubicBezTo>
                  <a:cubicBezTo>
                    <a:pt x="2209" y="1675301"/>
                    <a:pt x="0" y="1669968"/>
                    <a:pt x="0" y="1664408"/>
                  </a:cubicBezTo>
                  <a:lnTo>
                    <a:pt x="0" y="20964"/>
                  </a:lnTo>
                  <a:cubicBezTo>
                    <a:pt x="0" y="15404"/>
                    <a:pt x="2209" y="10072"/>
                    <a:pt x="6140" y="6140"/>
                  </a:cubicBezTo>
                  <a:cubicBezTo>
                    <a:pt x="10072" y="2209"/>
                    <a:pt x="15404" y="0"/>
                    <a:pt x="20964" y="0"/>
                  </a:cubicBezTo>
                  <a:close/>
                </a:path>
              </a:pathLst>
            </a:custGeom>
            <a:blipFill>
              <a:blip r:embed="rId2"/>
              <a:stretch>
                <a:fillRect l="-23644" t="0" r="-23644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493924" y="6934200"/>
            <a:ext cx="3467057" cy="4305236"/>
            <a:chOff x="0" y="0"/>
            <a:chExt cx="4622743" cy="5740315"/>
          </a:xfrm>
        </p:grpSpPr>
        <p:sp>
          <p:nvSpPr>
            <p:cNvPr name="Freeform 5" id="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4A6E8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8617013" y="376325"/>
            <a:ext cx="9332119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600" strike="noStrike" u="sng">
                <a:solidFill>
                  <a:srgbClr val="34618B"/>
                </a:solidFill>
                <a:latin typeface="Gagalin"/>
                <a:ea typeface="Gagalin"/>
                <a:cs typeface="Gagalin"/>
                <a:sym typeface="Gagalin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13207" y="3076006"/>
            <a:ext cx="7871554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 u="sng">
                <a:solidFill>
                  <a:srgbClr val="405B74"/>
                </a:solidFill>
                <a:latin typeface="Lora Bold"/>
                <a:ea typeface="Lora Bold"/>
                <a:cs typeface="Lora Bold"/>
                <a:sym typeface="Lora Bold"/>
              </a:rPr>
              <a:t>Static Timetables do not adapt to:-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05B74"/>
                </a:solidFill>
                <a:latin typeface="Lora"/>
                <a:ea typeface="Lora"/>
                <a:cs typeface="Lora"/>
                <a:sym typeface="Lora"/>
              </a:rPr>
              <a:t>Exam Dates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05B74"/>
                </a:solidFill>
                <a:latin typeface="Lora"/>
                <a:ea typeface="Lora"/>
                <a:cs typeface="Lora"/>
                <a:sym typeface="Lora"/>
              </a:rPr>
              <a:t>Study Hours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05B74"/>
                </a:solidFill>
                <a:latin typeface="Lora"/>
                <a:ea typeface="Lora"/>
                <a:cs typeface="Lora"/>
                <a:sym typeface="Lora"/>
              </a:rPr>
              <a:t>Individual Needs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7359" y="1390081"/>
            <a:ext cx="10601773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05B74"/>
                </a:solidFill>
                <a:latin typeface="Lora"/>
                <a:ea typeface="Lora"/>
                <a:cs typeface="Lora"/>
                <a:sym typeface="Lora"/>
              </a:rPr>
              <a:t>Students face difficulty in planning syllabus within limited exam time.</a:t>
            </a:r>
          </a:p>
          <a:p>
            <a:pPr algn="ctr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05B74"/>
                </a:solidFill>
                <a:latin typeface="Lora"/>
                <a:ea typeface="Lora"/>
                <a:cs typeface="Lora"/>
                <a:sym typeface="Lora"/>
              </a:rPr>
              <a:t>Managing multiple subjects and deadlines manually is inefficient.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982186" y="5103431"/>
            <a:ext cx="9332119" cy="8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00"/>
              </a:lnSpc>
              <a:spcBef>
                <a:spcPct val="0"/>
              </a:spcBef>
            </a:pPr>
            <a:r>
              <a:rPr lang="en-US" sz="6700" u="sng">
                <a:solidFill>
                  <a:srgbClr val="34618B"/>
                </a:solidFill>
                <a:latin typeface="Gagalin"/>
                <a:ea typeface="Gagalin"/>
                <a:cs typeface="Gagalin"/>
                <a:sym typeface="Gagalin"/>
              </a:rPr>
              <a:t>GOAL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68212" y="6121337"/>
            <a:ext cx="9846093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b="true" sz="2626" u="sng">
                <a:solidFill>
                  <a:srgbClr val="405B74"/>
                </a:solidFill>
                <a:latin typeface="Lora Bold"/>
                <a:ea typeface="Lora Bold"/>
                <a:cs typeface="Lora Bold"/>
                <a:sym typeface="Lora Bold"/>
              </a:rPr>
              <a:t>To create a system that:</a:t>
            </a:r>
          </a:p>
          <a:p>
            <a:pPr algn="l" marL="567150" indent="-283575" lvl="1">
              <a:lnSpc>
                <a:spcPts val="3152"/>
              </a:lnSpc>
              <a:buFont typeface="Arial"/>
              <a:buChar char="•"/>
            </a:pPr>
            <a:r>
              <a:rPr lang="en-US" sz="2626">
                <a:solidFill>
                  <a:srgbClr val="405B74"/>
                </a:solidFill>
                <a:latin typeface="Lora"/>
                <a:ea typeface="Lora"/>
                <a:cs typeface="Lora"/>
                <a:sym typeface="Lora"/>
              </a:rPr>
              <a:t>Generates a personalized exam study plan.</a:t>
            </a:r>
          </a:p>
          <a:p>
            <a:pPr algn="l" marL="567150" indent="-283575" lvl="1">
              <a:lnSpc>
                <a:spcPts val="3152"/>
              </a:lnSpc>
              <a:buFont typeface="Arial"/>
              <a:buChar char="•"/>
            </a:pPr>
            <a:r>
              <a:rPr lang="en-US" sz="2626">
                <a:solidFill>
                  <a:srgbClr val="405B74"/>
                </a:solidFill>
                <a:latin typeface="Lora"/>
                <a:ea typeface="Lora"/>
                <a:cs typeface="Lora"/>
                <a:sym typeface="Lora"/>
              </a:rPr>
              <a:t>Breaks syllabus into day-wise tasks</a:t>
            </a:r>
          </a:p>
          <a:p>
            <a:pPr algn="l" marL="567150" indent="-283575" lvl="1">
              <a:lnSpc>
                <a:spcPts val="3152"/>
              </a:lnSpc>
              <a:buFont typeface="Arial"/>
              <a:buChar char="•"/>
            </a:pPr>
            <a:r>
              <a:rPr lang="en-US" sz="2626">
                <a:solidFill>
                  <a:srgbClr val="405B74"/>
                </a:solidFill>
                <a:latin typeface="Lora"/>
                <a:ea typeface="Lora"/>
                <a:cs typeface="Lora"/>
                <a:sym typeface="Lora"/>
              </a:rPr>
              <a:t>Helps students utilize limited time efficiently</a:t>
            </a:r>
          </a:p>
          <a:p>
            <a:pPr algn="l" marL="567150" indent="-283575" lvl="1">
              <a:lnSpc>
                <a:spcPts val="3152"/>
              </a:lnSpc>
              <a:buFont typeface="Arial"/>
              <a:buChar char="•"/>
            </a:pPr>
            <a:r>
              <a:rPr lang="en-US" sz="2626">
                <a:solidFill>
                  <a:srgbClr val="405B74"/>
                </a:solidFill>
                <a:latin typeface="Lora"/>
                <a:ea typeface="Lora"/>
                <a:cs typeface="Lora"/>
                <a:sym typeface="Lora"/>
              </a:rPr>
              <a:t>To provide a structured and easy-to-follow study schedule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173">
            <a:off x="13892408" y="1737608"/>
            <a:ext cx="3086100" cy="972072"/>
            <a:chOff x="0" y="0"/>
            <a:chExt cx="812800" cy="2560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56019"/>
            </a:xfrm>
            <a:custGeom>
              <a:avLst/>
              <a:gdLst/>
              <a:ahLst/>
              <a:cxnLst/>
              <a:rect r="r" b="b" t="t" l="l"/>
              <a:pathLst>
                <a:path h="256019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13372"/>
                  </a:lnTo>
                  <a:cubicBezTo>
                    <a:pt x="812800" y="224683"/>
                    <a:pt x="808307" y="235530"/>
                    <a:pt x="800309" y="243528"/>
                  </a:cubicBezTo>
                  <a:cubicBezTo>
                    <a:pt x="792311" y="251526"/>
                    <a:pt x="781464" y="256019"/>
                    <a:pt x="770153" y="256019"/>
                  </a:cubicBezTo>
                  <a:lnTo>
                    <a:pt x="42647" y="256019"/>
                  </a:lnTo>
                  <a:cubicBezTo>
                    <a:pt x="19094" y="256019"/>
                    <a:pt x="0" y="236925"/>
                    <a:pt x="0" y="213372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812800" cy="256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060725" y="170699"/>
            <a:ext cx="709801" cy="858001"/>
          </a:xfrm>
          <a:custGeom>
            <a:avLst/>
            <a:gdLst/>
            <a:ahLst/>
            <a:cxnLst/>
            <a:rect r="r" b="b" t="t" l="l"/>
            <a:pathLst>
              <a:path h="858001" w="709801">
                <a:moveTo>
                  <a:pt x="0" y="0"/>
                </a:moveTo>
                <a:lnTo>
                  <a:pt x="709801" y="0"/>
                </a:lnTo>
                <a:lnTo>
                  <a:pt x="709801" y="858001"/>
                </a:lnTo>
                <a:lnTo>
                  <a:pt x="0" y="858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928539" y="4962459"/>
            <a:ext cx="3387508" cy="1676922"/>
            <a:chOff x="0" y="0"/>
            <a:chExt cx="892183" cy="4416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2183" cy="441658"/>
            </a:xfrm>
            <a:custGeom>
              <a:avLst/>
              <a:gdLst/>
              <a:ahLst/>
              <a:cxnLst/>
              <a:rect r="r" b="b" t="t" l="l"/>
              <a:pathLst>
                <a:path h="441658" w="892183">
                  <a:moveTo>
                    <a:pt x="38852" y="0"/>
                  </a:moveTo>
                  <a:lnTo>
                    <a:pt x="853331" y="0"/>
                  </a:lnTo>
                  <a:cubicBezTo>
                    <a:pt x="874788" y="0"/>
                    <a:pt x="892183" y="17395"/>
                    <a:pt x="892183" y="38852"/>
                  </a:cubicBezTo>
                  <a:lnTo>
                    <a:pt x="892183" y="402806"/>
                  </a:lnTo>
                  <a:cubicBezTo>
                    <a:pt x="892183" y="424264"/>
                    <a:pt x="874788" y="441658"/>
                    <a:pt x="853331" y="441658"/>
                  </a:cubicBezTo>
                  <a:lnTo>
                    <a:pt x="38852" y="441658"/>
                  </a:lnTo>
                  <a:cubicBezTo>
                    <a:pt x="17395" y="441658"/>
                    <a:pt x="0" y="424264"/>
                    <a:pt x="0" y="402806"/>
                  </a:cubicBezTo>
                  <a:lnTo>
                    <a:pt x="0" y="38852"/>
                  </a:lnTo>
                  <a:cubicBezTo>
                    <a:pt x="0" y="17395"/>
                    <a:pt x="17395" y="0"/>
                    <a:pt x="388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892183" cy="441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928539" y="3232738"/>
            <a:ext cx="3387508" cy="1196582"/>
            <a:chOff x="0" y="0"/>
            <a:chExt cx="892183" cy="3151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2183" cy="315149"/>
            </a:xfrm>
            <a:custGeom>
              <a:avLst/>
              <a:gdLst/>
              <a:ahLst/>
              <a:cxnLst/>
              <a:rect r="r" b="b" t="t" l="l"/>
              <a:pathLst>
                <a:path h="315149" w="892183">
                  <a:moveTo>
                    <a:pt x="38852" y="0"/>
                  </a:moveTo>
                  <a:lnTo>
                    <a:pt x="853331" y="0"/>
                  </a:lnTo>
                  <a:cubicBezTo>
                    <a:pt x="874788" y="0"/>
                    <a:pt x="892183" y="17395"/>
                    <a:pt x="892183" y="38852"/>
                  </a:cubicBezTo>
                  <a:lnTo>
                    <a:pt x="892183" y="276297"/>
                  </a:lnTo>
                  <a:cubicBezTo>
                    <a:pt x="892183" y="297754"/>
                    <a:pt x="874788" y="315149"/>
                    <a:pt x="853331" y="315149"/>
                  </a:cubicBezTo>
                  <a:lnTo>
                    <a:pt x="38852" y="315149"/>
                  </a:lnTo>
                  <a:cubicBezTo>
                    <a:pt x="28548" y="315149"/>
                    <a:pt x="18666" y="311056"/>
                    <a:pt x="11380" y="303770"/>
                  </a:cubicBezTo>
                  <a:cubicBezTo>
                    <a:pt x="4093" y="296483"/>
                    <a:pt x="0" y="286601"/>
                    <a:pt x="0" y="276297"/>
                  </a:cubicBezTo>
                  <a:lnTo>
                    <a:pt x="0" y="38852"/>
                  </a:lnTo>
                  <a:cubicBezTo>
                    <a:pt x="0" y="17395"/>
                    <a:pt x="17395" y="0"/>
                    <a:pt x="388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892183" cy="315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79243" y="7168485"/>
            <a:ext cx="3086100" cy="972333"/>
            <a:chOff x="0" y="0"/>
            <a:chExt cx="812800" cy="2560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256088"/>
            </a:xfrm>
            <a:custGeom>
              <a:avLst/>
              <a:gdLst/>
              <a:ahLst/>
              <a:cxnLst/>
              <a:rect r="r" b="b" t="t" l="l"/>
              <a:pathLst>
                <a:path h="256088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13441"/>
                  </a:lnTo>
                  <a:cubicBezTo>
                    <a:pt x="812800" y="236994"/>
                    <a:pt x="793706" y="256088"/>
                    <a:pt x="770153" y="256088"/>
                  </a:cubicBezTo>
                  <a:lnTo>
                    <a:pt x="42647" y="256088"/>
                  </a:lnTo>
                  <a:cubicBezTo>
                    <a:pt x="31336" y="256088"/>
                    <a:pt x="20489" y="251595"/>
                    <a:pt x="12491" y="243597"/>
                  </a:cubicBezTo>
                  <a:cubicBezTo>
                    <a:pt x="4493" y="235599"/>
                    <a:pt x="0" y="224751"/>
                    <a:pt x="0" y="213441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12800" cy="256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079243" y="8679447"/>
            <a:ext cx="3333232" cy="1215906"/>
            <a:chOff x="0" y="0"/>
            <a:chExt cx="877888" cy="3202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7888" cy="320239"/>
            </a:xfrm>
            <a:custGeom>
              <a:avLst/>
              <a:gdLst/>
              <a:ahLst/>
              <a:cxnLst/>
              <a:rect r="r" b="b" t="t" l="l"/>
              <a:pathLst>
                <a:path h="320239" w="877888">
                  <a:moveTo>
                    <a:pt x="39485" y="0"/>
                  </a:moveTo>
                  <a:lnTo>
                    <a:pt x="838403" y="0"/>
                  </a:lnTo>
                  <a:cubicBezTo>
                    <a:pt x="848875" y="0"/>
                    <a:pt x="858919" y="4160"/>
                    <a:pt x="866323" y="11565"/>
                  </a:cubicBezTo>
                  <a:cubicBezTo>
                    <a:pt x="873728" y="18970"/>
                    <a:pt x="877888" y="29013"/>
                    <a:pt x="877888" y="39485"/>
                  </a:cubicBezTo>
                  <a:lnTo>
                    <a:pt x="877888" y="280754"/>
                  </a:lnTo>
                  <a:cubicBezTo>
                    <a:pt x="877888" y="291226"/>
                    <a:pt x="873728" y="301269"/>
                    <a:pt x="866323" y="308674"/>
                  </a:cubicBezTo>
                  <a:cubicBezTo>
                    <a:pt x="858919" y="316079"/>
                    <a:pt x="848875" y="320239"/>
                    <a:pt x="838403" y="320239"/>
                  </a:cubicBezTo>
                  <a:lnTo>
                    <a:pt x="39485" y="320239"/>
                  </a:lnTo>
                  <a:cubicBezTo>
                    <a:pt x="29013" y="320239"/>
                    <a:pt x="18970" y="316079"/>
                    <a:pt x="11565" y="308674"/>
                  </a:cubicBezTo>
                  <a:cubicBezTo>
                    <a:pt x="4160" y="301269"/>
                    <a:pt x="0" y="291226"/>
                    <a:pt x="0" y="280754"/>
                  </a:cubicBezTo>
                  <a:lnTo>
                    <a:pt x="0" y="39485"/>
                  </a:lnTo>
                  <a:cubicBezTo>
                    <a:pt x="0" y="29013"/>
                    <a:pt x="4160" y="18970"/>
                    <a:pt x="11565" y="11565"/>
                  </a:cubicBezTo>
                  <a:cubicBezTo>
                    <a:pt x="18970" y="4160"/>
                    <a:pt x="29013" y="0"/>
                    <a:pt x="394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77888" cy="320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9150" y="1027033"/>
            <a:ext cx="11907400" cy="2364157"/>
            <a:chOff x="0" y="0"/>
            <a:chExt cx="15876533" cy="315221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751910"/>
              <a:ext cx="15876533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4A6E8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Performs step-by-step reasoning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4A6E8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Makes decisions during execution (When to think, when to act, when to use tools)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4A6E8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Can use tools instead of only generating text</a:t>
              </a:r>
            </a:p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9525"/>
              <a:ext cx="12081454" cy="949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0"/>
                </a:lnSpc>
              </a:pPr>
              <a:r>
                <a:rPr lang="en-US" b="true" sz="2350" u="sng">
                  <a:solidFill>
                    <a:srgbClr val="004AA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Agentic AI is an approach where the AI:</a:t>
              </a:r>
            </a:p>
            <a:p>
              <a:pPr algn="l" marL="0" indent="0" lvl="0">
                <a:lnSpc>
                  <a:spcPts val="2820"/>
                </a:lnSpc>
                <a:spcBef>
                  <a:spcPct val="0"/>
                </a:spcBef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2672785"/>
              <a:ext cx="12081454" cy="47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20"/>
                </a:lnSpc>
                <a:spcBef>
                  <a:spcPct val="0"/>
                </a:spcBef>
              </a:pPr>
              <a:r>
                <a:rPr lang="en-US" b="true" sz="2350" u="sng">
                  <a:solidFill>
                    <a:srgbClr val="004AA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Unlike a traditional chatbot: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700" y="104775"/>
            <a:ext cx="8485011" cy="7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8"/>
              </a:lnSpc>
              <a:spcBef>
                <a:spcPct val="0"/>
              </a:spcBef>
            </a:pPr>
            <a:r>
              <a:rPr lang="en-US" sz="5728" u="sng">
                <a:solidFill>
                  <a:srgbClr val="34618B"/>
                </a:solidFill>
                <a:latin typeface="Gagalin"/>
                <a:ea typeface="Gagalin"/>
                <a:cs typeface="Gagalin"/>
                <a:sym typeface="Gagalin"/>
              </a:rPr>
              <a:t>AGENTIC AI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9150" y="3545257"/>
            <a:ext cx="9261277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>
                <a:solidFill>
                  <a:srgbClr val="40629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It is not limited to a single prompt-response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>
                <a:solidFill>
                  <a:srgbClr val="40629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It can control the flow of actions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>
                <a:solidFill>
                  <a:srgbClr val="40629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agent acts as a decision-making controller for the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5060385"/>
            <a:ext cx="8485011" cy="7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8"/>
              </a:lnSpc>
              <a:spcBef>
                <a:spcPct val="0"/>
              </a:spcBef>
            </a:pPr>
            <a:r>
              <a:rPr lang="en-US" sz="5728" u="sng">
                <a:solidFill>
                  <a:srgbClr val="34618B"/>
                </a:solidFill>
                <a:latin typeface="Gagalin"/>
                <a:ea typeface="Gagalin"/>
                <a:cs typeface="Gagalin"/>
                <a:sym typeface="Gagalin"/>
              </a:rPr>
              <a:t>SYSTEM ARCHITECTURE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3173" y="6161952"/>
            <a:ext cx="10495955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406292"/>
                </a:solidFill>
                <a:latin typeface="Lora"/>
                <a:ea typeface="Lora"/>
                <a:cs typeface="Lora"/>
                <a:sym typeface="Lora"/>
              </a:rPr>
              <a:t>The system is designed using a modular architecture.</a:t>
            </a:r>
          </a:p>
          <a:p>
            <a:pPr algn="ctr">
              <a:lnSpc>
                <a:spcPts val="2880"/>
              </a:lnSpc>
            </a:pPr>
            <a:r>
              <a:rPr lang="en-US" b="true" sz="2400" u="sng">
                <a:solidFill>
                  <a:srgbClr val="004AAD"/>
                </a:solidFill>
                <a:latin typeface="Lora Bold"/>
                <a:ea typeface="Lora Bold"/>
                <a:cs typeface="Lora Bold"/>
                <a:sym typeface="Lora Bold"/>
              </a:rPr>
              <a:t>Major components: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b="true" sz="2400" u="sng">
                <a:solidFill>
                  <a:srgbClr val="406292"/>
                </a:solidFill>
                <a:latin typeface="Lora Bold"/>
                <a:ea typeface="Lora Bold"/>
                <a:cs typeface="Lora Bold"/>
                <a:sym typeface="Lora Bold"/>
              </a:rPr>
              <a:t>User Interface (Streamlit):</a:t>
            </a:r>
            <a:r>
              <a:rPr lang="en-US" sz="2400">
                <a:solidFill>
                  <a:srgbClr val="406292"/>
                </a:solidFill>
                <a:latin typeface="Lora"/>
                <a:ea typeface="Lora"/>
                <a:cs typeface="Lora"/>
                <a:sym typeface="Lora"/>
              </a:rPr>
              <a:t> Collects user inputs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b="true" sz="2400" u="sng">
                <a:solidFill>
                  <a:srgbClr val="406292"/>
                </a:solidFill>
                <a:latin typeface="Lora Bold"/>
                <a:ea typeface="Lora Bold"/>
                <a:cs typeface="Lora Bold"/>
                <a:sym typeface="Lora Bold"/>
              </a:rPr>
              <a:t>AI Agent (LangChain)</a:t>
            </a:r>
            <a:r>
              <a:rPr lang="en-US" sz="2400" u="sng">
                <a:solidFill>
                  <a:srgbClr val="406292"/>
                </a:solidFill>
                <a:latin typeface="Lora"/>
                <a:ea typeface="Lora"/>
                <a:cs typeface="Lora"/>
                <a:sym typeface="Lora"/>
              </a:rPr>
              <a:t>: </a:t>
            </a:r>
            <a:r>
              <a:rPr lang="en-US" sz="2400">
                <a:solidFill>
                  <a:srgbClr val="406292"/>
                </a:solidFill>
                <a:latin typeface="Lora"/>
                <a:ea typeface="Lora"/>
                <a:cs typeface="Lora"/>
                <a:sym typeface="Lora"/>
              </a:rPr>
              <a:t>Interprets requirements and controls execution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b="true" sz="2400" u="sng">
                <a:solidFill>
                  <a:srgbClr val="406292"/>
                </a:solidFill>
                <a:latin typeface="Lora Bold"/>
                <a:ea typeface="Lora Bold"/>
                <a:cs typeface="Lora Bold"/>
                <a:sym typeface="Lora Bold"/>
              </a:rPr>
              <a:t>Tools &amp; Logic Layer:</a:t>
            </a:r>
            <a:r>
              <a:rPr lang="en-US" sz="2400">
                <a:solidFill>
                  <a:srgbClr val="406292"/>
                </a:solidFill>
                <a:latin typeface="Lora"/>
                <a:ea typeface="Lora"/>
                <a:cs typeface="Lora"/>
                <a:sym typeface="Lora"/>
              </a:rPr>
              <a:t> Handles planning and structuring operations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b="true" sz="2400" u="sng">
                <a:solidFill>
                  <a:srgbClr val="406292"/>
                </a:solidFill>
                <a:latin typeface="Lora Bold"/>
                <a:ea typeface="Lora Bold"/>
                <a:cs typeface="Lora Bold"/>
                <a:sym typeface="Lora Bold"/>
              </a:rPr>
              <a:t>LLM:</a:t>
            </a:r>
            <a:r>
              <a:rPr lang="en-US" sz="2400">
                <a:solidFill>
                  <a:srgbClr val="406292"/>
                </a:solidFill>
                <a:latin typeface="Lora"/>
                <a:ea typeface="Lora"/>
                <a:cs typeface="Lora"/>
                <a:sym typeface="Lora"/>
              </a:rPr>
              <a:t> Generates structured study plans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b="true" sz="2400" u="sng">
                <a:solidFill>
                  <a:srgbClr val="406292"/>
                </a:solidFill>
                <a:latin typeface="Lora Bold"/>
                <a:ea typeface="Lora Bold"/>
                <a:cs typeface="Lora Bold"/>
                <a:sym typeface="Lora Bold"/>
              </a:rPr>
              <a:t>Output Layer:</a:t>
            </a:r>
            <a:r>
              <a:rPr lang="en-US" sz="2400">
                <a:solidFill>
                  <a:srgbClr val="406292"/>
                </a:solidFill>
                <a:latin typeface="Lora"/>
                <a:ea typeface="Lora"/>
                <a:cs typeface="Lora"/>
                <a:sym typeface="Lora"/>
              </a:rPr>
              <a:t> Displays results in calendar format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 u="sng">
                <a:solidFill>
                  <a:srgbClr val="004AAD"/>
                </a:solidFill>
                <a:latin typeface="Lora Bold"/>
                <a:ea typeface="Lora Bold"/>
                <a:cs typeface="Lora Bold"/>
                <a:sym typeface="Lora Bold"/>
              </a:rPr>
              <a:t>Data Flow: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406292"/>
                </a:solidFill>
                <a:latin typeface="Lora"/>
                <a:ea typeface="Lora"/>
                <a:cs typeface="Lora"/>
                <a:sym typeface="Lora"/>
              </a:rPr>
              <a:t> User Input → Agent → Tools &amp; LLM → Structured Output → UI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167303" y="463392"/>
            <a:ext cx="69830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 u="sng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841391" y="2028137"/>
            <a:ext cx="156180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Streamlit UI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79243" y="3535754"/>
            <a:ext cx="30861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AI Agent (LangChain)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(Decision Making)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73200" y="5193935"/>
            <a:ext cx="30861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Tools &amp; Logic Layer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79243" y="7482810"/>
            <a:ext cx="30861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LLM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55753" y="8955672"/>
            <a:ext cx="306029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Output (Study Plan / Calendar View)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079243" y="5669854"/>
            <a:ext cx="30861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(</a:t>
            </a:r>
            <a:r>
              <a:rPr lang="en-US" sz="19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Day-wise distribution</a:t>
            </a:r>
          </a:p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Plan structuring</a:t>
            </a:r>
          </a:p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Logical separation of content)</a:t>
            </a:r>
          </a:p>
        </p:txBody>
      </p:sp>
      <p:sp>
        <p:nvSpPr>
          <p:cNvPr name="AutoShape 33" id="33"/>
          <p:cNvSpPr/>
          <p:nvPr/>
        </p:nvSpPr>
        <p:spPr>
          <a:xfrm flipH="true">
            <a:off x="15322275" y="1013667"/>
            <a:ext cx="112066" cy="7868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>
            <a:off x="15453558" y="2713159"/>
            <a:ext cx="0" cy="5195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15472608" y="4429320"/>
            <a:ext cx="0" cy="5195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15472608" y="6639381"/>
            <a:ext cx="0" cy="5195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>
            <a:off x="15491658" y="8150343"/>
            <a:ext cx="0" cy="5195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057" y="1507134"/>
            <a:ext cx="8677078" cy="8038152"/>
            <a:chOff x="0" y="0"/>
            <a:chExt cx="11569438" cy="1071753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49038" y="0"/>
              <a:ext cx="10548253" cy="1162472"/>
              <a:chOff x="0" y="0"/>
              <a:chExt cx="2320180" cy="2556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20180" cy="255696"/>
              </a:xfrm>
              <a:custGeom>
                <a:avLst/>
                <a:gdLst/>
                <a:ahLst/>
                <a:cxnLst/>
                <a:rect r="r" b="b" t="t" l="l"/>
                <a:pathLst>
                  <a:path h="255696" w="2320180">
                    <a:moveTo>
                      <a:pt x="19113" y="0"/>
                    </a:moveTo>
                    <a:lnTo>
                      <a:pt x="2301067" y="0"/>
                    </a:lnTo>
                    <a:cubicBezTo>
                      <a:pt x="2311623" y="0"/>
                      <a:pt x="2320180" y="8557"/>
                      <a:pt x="2320180" y="19113"/>
                    </a:cubicBezTo>
                    <a:lnTo>
                      <a:pt x="2320180" y="236583"/>
                    </a:lnTo>
                    <a:cubicBezTo>
                      <a:pt x="2320180" y="241652"/>
                      <a:pt x="2318167" y="246513"/>
                      <a:pt x="2314582" y="250098"/>
                    </a:cubicBezTo>
                    <a:cubicBezTo>
                      <a:pt x="2310998" y="253682"/>
                      <a:pt x="2306136" y="255696"/>
                      <a:pt x="2301067" y="255696"/>
                    </a:cubicBezTo>
                    <a:lnTo>
                      <a:pt x="19113" y="255696"/>
                    </a:lnTo>
                    <a:cubicBezTo>
                      <a:pt x="14044" y="255696"/>
                      <a:pt x="9183" y="253682"/>
                      <a:pt x="5598" y="250098"/>
                    </a:cubicBezTo>
                    <a:cubicBezTo>
                      <a:pt x="2014" y="246513"/>
                      <a:pt x="0" y="241652"/>
                      <a:pt x="0" y="236583"/>
                    </a:cubicBezTo>
                    <a:lnTo>
                      <a:pt x="0" y="19113"/>
                    </a:lnTo>
                    <a:cubicBezTo>
                      <a:pt x="0" y="14044"/>
                      <a:pt x="2014" y="9183"/>
                      <a:pt x="5598" y="5598"/>
                    </a:cubicBezTo>
                    <a:cubicBezTo>
                      <a:pt x="9183" y="2014"/>
                      <a:pt x="14044" y="0"/>
                      <a:pt x="1911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A8AFF">
                      <a:alpha val="100000"/>
                    </a:srgbClr>
                  </a:gs>
                  <a:gs pos="100000">
                    <a:srgbClr val="B2FBFF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2320180" cy="2556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HK Grotesk"/>
                    <a:ea typeface="HK Grotesk"/>
                    <a:cs typeface="HK Grotesk"/>
                    <a:sym typeface="HK Grotesk"/>
                  </a:rPr>
                  <a:t>User Enter Details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49038" y="9477553"/>
              <a:ext cx="10820400" cy="1239983"/>
              <a:chOff x="0" y="0"/>
              <a:chExt cx="1669815" cy="19135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69815" cy="191355"/>
              </a:xfrm>
              <a:custGeom>
                <a:avLst/>
                <a:gdLst/>
                <a:ahLst/>
                <a:cxnLst/>
                <a:rect r="r" b="b" t="t" l="l"/>
                <a:pathLst>
                  <a:path h="191355" w="1669815">
                    <a:moveTo>
                      <a:pt x="18633" y="0"/>
                    </a:moveTo>
                    <a:lnTo>
                      <a:pt x="1651182" y="0"/>
                    </a:lnTo>
                    <a:cubicBezTo>
                      <a:pt x="1656124" y="0"/>
                      <a:pt x="1660863" y="1963"/>
                      <a:pt x="1664357" y="5457"/>
                    </a:cubicBezTo>
                    <a:cubicBezTo>
                      <a:pt x="1667852" y="8952"/>
                      <a:pt x="1669815" y="13691"/>
                      <a:pt x="1669815" y="18633"/>
                    </a:cubicBezTo>
                    <a:lnTo>
                      <a:pt x="1669815" y="172723"/>
                    </a:lnTo>
                    <a:cubicBezTo>
                      <a:pt x="1669815" y="183013"/>
                      <a:pt x="1661473" y="191355"/>
                      <a:pt x="1651182" y="191355"/>
                    </a:cubicBezTo>
                    <a:lnTo>
                      <a:pt x="18633" y="191355"/>
                    </a:lnTo>
                    <a:cubicBezTo>
                      <a:pt x="13691" y="191355"/>
                      <a:pt x="8952" y="189392"/>
                      <a:pt x="5457" y="185898"/>
                    </a:cubicBezTo>
                    <a:cubicBezTo>
                      <a:pt x="1963" y="182404"/>
                      <a:pt x="0" y="177664"/>
                      <a:pt x="0" y="172723"/>
                    </a:cubicBezTo>
                    <a:lnTo>
                      <a:pt x="0" y="18633"/>
                    </a:lnTo>
                    <a:cubicBezTo>
                      <a:pt x="0" y="13691"/>
                      <a:pt x="1963" y="8952"/>
                      <a:pt x="5457" y="5457"/>
                    </a:cubicBezTo>
                    <a:cubicBezTo>
                      <a:pt x="8952" y="1963"/>
                      <a:pt x="13691" y="0"/>
                      <a:pt x="1863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A8AFF">
                      <a:alpha val="100000"/>
                    </a:srgbClr>
                  </a:gs>
                  <a:gs pos="100000">
                    <a:srgbClr val="B2FBFF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1669815" cy="1913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HK Grotesk"/>
                    <a:ea typeface="HK Grotesk"/>
                    <a:cs typeface="HK Grotesk"/>
                    <a:sym typeface="HK Grotesk"/>
                  </a:rPr>
                  <a:t>The final output is formatted and sent to the U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49038" y="8165791"/>
              <a:ext cx="10820400" cy="918062"/>
              <a:chOff x="0" y="0"/>
              <a:chExt cx="1669815" cy="14167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669815" cy="141676"/>
              </a:xfrm>
              <a:custGeom>
                <a:avLst/>
                <a:gdLst/>
                <a:ahLst/>
                <a:cxnLst/>
                <a:rect r="r" b="b" t="t" l="l"/>
                <a:pathLst>
                  <a:path h="141676" w="1669815">
                    <a:moveTo>
                      <a:pt x="18633" y="0"/>
                    </a:moveTo>
                    <a:lnTo>
                      <a:pt x="1651182" y="0"/>
                    </a:lnTo>
                    <a:cubicBezTo>
                      <a:pt x="1656124" y="0"/>
                      <a:pt x="1660863" y="1963"/>
                      <a:pt x="1664357" y="5457"/>
                    </a:cubicBezTo>
                    <a:cubicBezTo>
                      <a:pt x="1667852" y="8952"/>
                      <a:pt x="1669815" y="13691"/>
                      <a:pt x="1669815" y="18633"/>
                    </a:cubicBezTo>
                    <a:lnTo>
                      <a:pt x="1669815" y="123044"/>
                    </a:lnTo>
                    <a:cubicBezTo>
                      <a:pt x="1669815" y="127985"/>
                      <a:pt x="1667852" y="132725"/>
                      <a:pt x="1664357" y="136219"/>
                    </a:cubicBezTo>
                    <a:cubicBezTo>
                      <a:pt x="1660863" y="139713"/>
                      <a:pt x="1656124" y="141676"/>
                      <a:pt x="1651182" y="141676"/>
                    </a:cubicBezTo>
                    <a:lnTo>
                      <a:pt x="18633" y="141676"/>
                    </a:lnTo>
                    <a:cubicBezTo>
                      <a:pt x="8342" y="141676"/>
                      <a:pt x="0" y="133334"/>
                      <a:pt x="0" y="123044"/>
                    </a:cubicBezTo>
                    <a:lnTo>
                      <a:pt x="0" y="18633"/>
                    </a:lnTo>
                    <a:cubicBezTo>
                      <a:pt x="0" y="13691"/>
                      <a:pt x="1963" y="8952"/>
                      <a:pt x="5457" y="5457"/>
                    </a:cubicBezTo>
                    <a:cubicBezTo>
                      <a:pt x="8952" y="1963"/>
                      <a:pt x="13691" y="0"/>
                      <a:pt x="1863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A8AFF">
                      <a:alpha val="100000"/>
                    </a:srgbClr>
                  </a:gs>
                  <a:gs pos="100000">
                    <a:srgbClr val="B2FBFF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669815" cy="141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HK Grotesk"/>
                    <a:ea typeface="HK Grotesk"/>
                    <a:cs typeface="HK Grotesk"/>
                    <a:sym typeface="HK Grotesk"/>
                  </a:rPr>
                  <a:t>Last-minute exam tips are generated separately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749038" y="4848488"/>
              <a:ext cx="10820400" cy="1386961"/>
              <a:chOff x="0" y="0"/>
              <a:chExt cx="1669815" cy="21403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69815" cy="214037"/>
              </a:xfrm>
              <a:custGeom>
                <a:avLst/>
                <a:gdLst/>
                <a:ahLst/>
                <a:cxnLst/>
                <a:rect r="r" b="b" t="t" l="l"/>
                <a:pathLst>
                  <a:path h="214037" w="1669815">
                    <a:moveTo>
                      <a:pt x="18633" y="0"/>
                    </a:moveTo>
                    <a:lnTo>
                      <a:pt x="1651182" y="0"/>
                    </a:lnTo>
                    <a:cubicBezTo>
                      <a:pt x="1656124" y="0"/>
                      <a:pt x="1660863" y="1963"/>
                      <a:pt x="1664357" y="5457"/>
                    </a:cubicBezTo>
                    <a:cubicBezTo>
                      <a:pt x="1667852" y="8952"/>
                      <a:pt x="1669815" y="13691"/>
                      <a:pt x="1669815" y="18633"/>
                    </a:cubicBezTo>
                    <a:lnTo>
                      <a:pt x="1669815" y="195405"/>
                    </a:lnTo>
                    <a:cubicBezTo>
                      <a:pt x="1669815" y="200346"/>
                      <a:pt x="1667852" y="205086"/>
                      <a:pt x="1664357" y="208580"/>
                    </a:cubicBezTo>
                    <a:cubicBezTo>
                      <a:pt x="1660863" y="212074"/>
                      <a:pt x="1656124" y="214037"/>
                      <a:pt x="1651182" y="214037"/>
                    </a:cubicBezTo>
                    <a:lnTo>
                      <a:pt x="18633" y="214037"/>
                    </a:lnTo>
                    <a:cubicBezTo>
                      <a:pt x="8342" y="214037"/>
                      <a:pt x="0" y="205695"/>
                      <a:pt x="0" y="195405"/>
                    </a:cubicBezTo>
                    <a:lnTo>
                      <a:pt x="0" y="18633"/>
                    </a:lnTo>
                    <a:cubicBezTo>
                      <a:pt x="0" y="13691"/>
                      <a:pt x="1963" y="8952"/>
                      <a:pt x="5457" y="5457"/>
                    </a:cubicBezTo>
                    <a:cubicBezTo>
                      <a:pt x="8952" y="1963"/>
                      <a:pt x="13691" y="0"/>
                      <a:pt x="1863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A8AFF">
                      <a:alpha val="100000"/>
                    </a:srgbClr>
                  </a:gs>
                  <a:gs pos="100000">
                    <a:srgbClr val="B2FBFF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1669815" cy="2140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HK Grotesk"/>
                    <a:ea typeface="HK Grotesk"/>
                    <a:cs typeface="HK Grotesk"/>
                    <a:sym typeface="HK Grotesk"/>
                  </a:rPr>
                  <a:t>The agent decides when to invoke tools for logical processing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49038" y="6629149"/>
              <a:ext cx="10820400" cy="1206442"/>
              <a:chOff x="0" y="0"/>
              <a:chExt cx="1669815" cy="18617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669815" cy="186179"/>
              </a:xfrm>
              <a:custGeom>
                <a:avLst/>
                <a:gdLst/>
                <a:ahLst/>
                <a:cxnLst/>
                <a:rect r="r" b="b" t="t" l="l"/>
                <a:pathLst>
                  <a:path h="186179" w="1669815">
                    <a:moveTo>
                      <a:pt x="18633" y="0"/>
                    </a:moveTo>
                    <a:lnTo>
                      <a:pt x="1651182" y="0"/>
                    </a:lnTo>
                    <a:cubicBezTo>
                      <a:pt x="1656124" y="0"/>
                      <a:pt x="1660863" y="1963"/>
                      <a:pt x="1664357" y="5457"/>
                    </a:cubicBezTo>
                    <a:cubicBezTo>
                      <a:pt x="1667852" y="8952"/>
                      <a:pt x="1669815" y="13691"/>
                      <a:pt x="1669815" y="18633"/>
                    </a:cubicBezTo>
                    <a:lnTo>
                      <a:pt x="1669815" y="167547"/>
                    </a:lnTo>
                    <a:cubicBezTo>
                      <a:pt x="1669815" y="172488"/>
                      <a:pt x="1667852" y="177228"/>
                      <a:pt x="1664357" y="180722"/>
                    </a:cubicBezTo>
                    <a:cubicBezTo>
                      <a:pt x="1660863" y="184216"/>
                      <a:pt x="1656124" y="186179"/>
                      <a:pt x="1651182" y="186179"/>
                    </a:cubicBezTo>
                    <a:lnTo>
                      <a:pt x="18633" y="186179"/>
                    </a:lnTo>
                    <a:cubicBezTo>
                      <a:pt x="8342" y="186179"/>
                      <a:pt x="0" y="177837"/>
                      <a:pt x="0" y="167547"/>
                    </a:cubicBezTo>
                    <a:lnTo>
                      <a:pt x="0" y="18633"/>
                    </a:lnTo>
                    <a:cubicBezTo>
                      <a:pt x="0" y="13691"/>
                      <a:pt x="1963" y="8952"/>
                      <a:pt x="5457" y="5457"/>
                    </a:cubicBezTo>
                    <a:cubicBezTo>
                      <a:pt x="8952" y="1963"/>
                      <a:pt x="13691" y="0"/>
                      <a:pt x="1863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A8AFF">
                      <a:alpha val="100000"/>
                    </a:srgbClr>
                  </a:gs>
                  <a:gs pos="100000">
                    <a:srgbClr val="B2FBFF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1669815" cy="186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HK Grotesk"/>
                    <a:ea typeface="HK Grotesk"/>
                    <a:cs typeface="HK Grotesk"/>
                    <a:sym typeface="HK Grotesk"/>
                  </a:rPr>
                  <a:t>It structures the syllabus into a day-wise study plan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885111" y="1556172"/>
              <a:ext cx="10548253" cy="1456272"/>
              <a:chOff x="0" y="0"/>
              <a:chExt cx="1627817" cy="22473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27817" cy="224733"/>
              </a:xfrm>
              <a:custGeom>
                <a:avLst/>
                <a:gdLst/>
                <a:ahLst/>
                <a:cxnLst/>
                <a:rect r="r" b="b" t="t" l="l"/>
                <a:pathLst>
                  <a:path h="224733" w="1627817">
                    <a:moveTo>
                      <a:pt x="19113" y="0"/>
                    </a:moveTo>
                    <a:lnTo>
                      <a:pt x="1608703" y="0"/>
                    </a:lnTo>
                    <a:cubicBezTo>
                      <a:pt x="1613773" y="0"/>
                      <a:pt x="1618634" y="2014"/>
                      <a:pt x="1622219" y="5598"/>
                    </a:cubicBezTo>
                    <a:cubicBezTo>
                      <a:pt x="1625803" y="9183"/>
                      <a:pt x="1627817" y="14044"/>
                      <a:pt x="1627817" y="19113"/>
                    </a:cubicBezTo>
                    <a:lnTo>
                      <a:pt x="1627817" y="205620"/>
                    </a:lnTo>
                    <a:cubicBezTo>
                      <a:pt x="1627817" y="210689"/>
                      <a:pt x="1625803" y="215551"/>
                      <a:pt x="1622219" y="219135"/>
                    </a:cubicBezTo>
                    <a:cubicBezTo>
                      <a:pt x="1618634" y="222720"/>
                      <a:pt x="1613773" y="224733"/>
                      <a:pt x="1608703" y="224733"/>
                    </a:cubicBezTo>
                    <a:lnTo>
                      <a:pt x="19113" y="224733"/>
                    </a:lnTo>
                    <a:cubicBezTo>
                      <a:pt x="14044" y="224733"/>
                      <a:pt x="9183" y="222720"/>
                      <a:pt x="5598" y="219135"/>
                    </a:cubicBezTo>
                    <a:cubicBezTo>
                      <a:pt x="2014" y="215551"/>
                      <a:pt x="0" y="210689"/>
                      <a:pt x="0" y="205620"/>
                    </a:cubicBezTo>
                    <a:lnTo>
                      <a:pt x="0" y="19113"/>
                    </a:lnTo>
                    <a:cubicBezTo>
                      <a:pt x="0" y="14044"/>
                      <a:pt x="2014" y="9183"/>
                      <a:pt x="5598" y="5598"/>
                    </a:cubicBezTo>
                    <a:cubicBezTo>
                      <a:pt x="9183" y="2014"/>
                      <a:pt x="14044" y="0"/>
                      <a:pt x="1911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A8AFF">
                      <a:alpha val="100000"/>
                    </a:srgbClr>
                  </a:gs>
                  <a:gs pos="100000">
                    <a:srgbClr val="B2FBFF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1627817" cy="2247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HK Grotesk"/>
                    <a:ea typeface="HK Grotesk"/>
                    <a:cs typeface="HK Grotesk"/>
                    <a:sym typeface="HK Grotesk"/>
                  </a:rPr>
                  <a:t>The agent receives user inputs such as subjects, exam dates, and available study hours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49038" y="3406145"/>
              <a:ext cx="10820400" cy="1105820"/>
              <a:chOff x="0" y="0"/>
              <a:chExt cx="1669815" cy="17065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669815" cy="170651"/>
              </a:xfrm>
              <a:custGeom>
                <a:avLst/>
                <a:gdLst/>
                <a:ahLst/>
                <a:cxnLst/>
                <a:rect r="r" b="b" t="t" l="l"/>
                <a:pathLst>
                  <a:path h="170651" w="1669815">
                    <a:moveTo>
                      <a:pt x="18633" y="0"/>
                    </a:moveTo>
                    <a:lnTo>
                      <a:pt x="1651182" y="0"/>
                    </a:lnTo>
                    <a:cubicBezTo>
                      <a:pt x="1656124" y="0"/>
                      <a:pt x="1660863" y="1963"/>
                      <a:pt x="1664357" y="5457"/>
                    </a:cubicBezTo>
                    <a:cubicBezTo>
                      <a:pt x="1667852" y="8952"/>
                      <a:pt x="1669815" y="13691"/>
                      <a:pt x="1669815" y="18633"/>
                    </a:cubicBezTo>
                    <a:lnTo>
                      <a:pt x="1669815" y="152019"/>
                    </a:lnTo>
                    <a:cubicBezTo>
                      <a:pt x="1669815" y="156960"/>
                      <a:pt x="1667852" y="161700"/>
                      <a:pt x="1664357" y="165194"/>
                    </a:cubicBezTo>
                    <a:cubicBezTo>
                      <a:pt x="1660863" y="168688"/>
                      <a:pt x="1656124" y="170651"/>
                      <a:pt x="1651182" y="170651"/>
                    </a:cubicBezTo>
                    <a:lnTo>
                      <a:pt x="18633" y="170651"/>
                    </a:lnTo>
                    <a:cubicBezTo>
                      <a:pt x="13691" y="170651"/>
                      <a:pt x="8952" y="168688"/>
                      <a:pt x="5457" y="165194"/>
                    </a:cubicBezTo>
                    <a:cubicBezTo>
                      <a:pt x="1963" y="161700"/>
                      <a:pt x="0" y="156960"/>
                      <a:pt x="0" y="152019"/>
                    </a:cubicBezTo>
                    <a:lnTo>
                      <a:pt x="0" y="18633"/>
                    </a:lnTo>
                    <a:cubicBezTo>
                      <a:pt x="0" y="13691"/>
                      <a:pt x="1963" y="8952"/>
                      <a:pt x="5457" y="5457"/>
                    </a:cubicBezTo>
                    <a:cubicBezTo>
                      <a:pt x="8952" y="1963"/>
                      <a:pt x="13691" y="0"/>
                      <a:pt x="1863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A8AFF">
                      <a:alpha val="100000"/>
                    </a:srgbClr>
                  </a:gs>
                  <a:gs pos="100000">
                    <a:srgbClr val="B2FBFF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1669815" cy="170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HK Grotesk"/>
                    <a:ea typeface="HK Grotesk"/>
                    <a:cs typeface="HK Grotesk"/>
                    <a:sym typeface="HK Grotesk"/>
                  </a:rPr>
                  <a:t>It analyzes constraints and planning requirements</a:t>
                </a: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1282" y="253579"/>
              <a:ext cx="645002" cy="645002"/>
            </a:xfrm>
            <a:custGeom>
              <a:avLst/>
              <a:gdLst/>
              <a:ahLst/>
              <a:cxnLst/>
              <a:rect r="r" b="b" t="t" l="l"/>
              <a:pathLst>
                <a:path h="645002" w="645002">
                  <a:moveTo>
                    <a:pt x="0" y="0"/>
                  </a:moveTo>
                  <a:lnTo>
                    <a:pt x="645003" y="0"/>
                  </a:lnTo>
                  <a:lnTo>
                    <a:pt x="645003" y="645003"/>
                  </a:lnTo>
                  <a:lnTo>
                    <a:pt x="0" y="645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6809" y="1914582"/>
              <a:ext cx="739454" cy="739454"/>
            </a:xfrm>
            <a:custGeom>
              <a:avLst/>
              <a:gdLst/>
              <a:ahLst/>
              <a:cxnLst/>
              <a:rect r="r" b="b" t="t" l="l"/>
              <a:pathLst>
                <a:path h="739454" w="739454">
                  <a:moveTo>
                    <a:pt x="0" y="0"/>
                  </a:moveTo>
                  <a:lnTo>
                    <a:pt x="739454" y="0"/>
                  </a:lnTo>
                  <a:lnTo>
                    <a:pt x="739454" y="739454"/>
                  </a:lnTo>
                  <a:lnTo>
                    <a:pt x="0" y="739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498" y="3670036"/>
              <a:ext cx="645002" cy="645002"/>
            </a:xfrm>
            <a:custGeom>
              <a:avLst/>
              <a:gdLst/>
              <a:ahLst/>
              <a:cxnLst/>
              <a:rect r="r" b="b" t="t" l="l"/>
              <a:pathLst>
                <a:path h="645002" w="645002">
                  <a:moveTo>
                    <a:pt x="0" y="0"/>
                  </a:moveTo>
                  <a:lnTo>
                    <a:pt x="645003" y="0"/>
                  </a:lnTo>
                  <a:lnTo>
                    <a:pt x="645003" y="645002"/>
                  </a:lnTo>
                  <a:lnTo>
                    <a:pt x="0" y="645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498" y="5264744"/>
              <a:ext cx="639787" cy="639787"/>
            </a:xfrm>
            <a:custGeom>
              <a:avLst/>
              <a:gdLst/>
              <a:ahLst/>
              <a:cxnLst/>
              <a:rect r="r" b="b" t="t" l="l"/>
              <a:pathLst>
                <a:path h="639787" w="639787">
                  <a:moveTo>
                    <a:pt x="0" y="0"/>
                  </a:moveTo>
                  <a:lnTo>
                    <a:pt x="639787" y="0"/>
                  </a:lnTo>
                  <a:lnTo>
                    <a:pt x="639787" y="639787"/>
                  </a:lnTo>
                  <a:lnTo>
                    <a:pt x="0" y="639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498" y="6920531"/>
              <a:ext cx="645002" cy="645002"/>
            </a:xfrm>
            <a:custGeom>
              <a:avLst/>
              <a:gdLst/>
              <a:ahLst/>
              <a:cxnLst/>
              <a:rect r="r" b="b" t="t" l="l"/>
              <a:pathLst>
                <a:path h="645002" w="645002">
                  <a:moveTo>
                    <a:pt x="0" y="0"/>
                  </a:moveTo>
                  <a:lnTo>
                    <a:pt x="645003" y="0"/>
                  </a:lnTo>
                  <a:lnTo>
                    <a:pt x="645003" y="645002"/>
                  </a:lnTo>
                  <a:lnTo>
                    <a:pt x="0" y="645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56809" y="8278708"/>
              <a:ext cx="692228" cy="692228"/>
            </a:xfrm>
            <a:custGeom>
              <a:avLst/>
              <a:gdLst/>
              <a:ahLst/>
              <a:cxnLst/>
              <a:rect r="r" b="b" t="t" l="l"/>
              <a:pathLst>
                <a:path h="692228" w="692228">
                  <a:moveTo>
                    <a:pt x="0" y="0"/>
                  </a:moveTo>
                  <a:lnTo>
                    <a:pt x="692229" y="0"/>
                  </a:lnTo>
                  <a:lnTo>
                    <a:pt x="692229" y="692228"/>
                  </a:lnTo>
                  <a:lnTo>
                    <a:pt x="0" y="692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9783103"/>
              <a:ext cx="646285" cy="646285"/>
            </a:xfrm>
            <a:custGeom>
              <a:avLst/>
              <a:gdLst/>
              <a:ahLst/>
              <a:cxnLst/>
              <a:rect r="r" b="b" t="t" l="l"/>
              <a:pathLst>
                <a:path h="646285" w="646285">
                  <a:moveTo>
                    <a:pt x="0" y="0"/>
                  </a:moveTo>
                  <a:lnTo>
                    <a:pt x="646285" y="0"/>
                  </a:lnTo>
                  <a:lnTo>
                    <a:pt x="646285" y="646285"/>
                  </a:lnTo>
                  <a:lnTo>
                    <a:pt x="0" y="64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802989" y="2844843"/>
            <a:ext cx="8485011" cy="7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8"/>
              </a:lnSpc>
              <a:spcBef>
                <a:spcPct val="0"/>
              </a:spcBef>
            </a:pPr>
            <a:r>
              <a:rPr lang="en-US" sz="5728" u="sng">
                <a:solidFill>
                  <a:srgbClr val="34618B"/>
                </a:solidFill>
                <a:latin typeface="Gagalin"/>
                <a:ea typeface="Gagalin"/>
                <a:cs typeface="Gagalin"/>
                <a:sym typeface="Gagalin"/>
              </a:rPr>
              <a:t>KEY FEATURES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44658" y="4029075"/>
            <a:ext cx="8918027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4A6E8F"/>
                </a:solidFill>
                <a:latin typeface="HK Grotesk"/>
                <a:ea typeface="HK Grotesk"/>
                <a:cs typeface="HK Grotesk"/>
                <a:sym typeface="HK Grotesk"/>
              </a:rPr>
              <a:t>Personalized Study Plan Generation.📖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4A6E8F"/>
                </a:solidFill>
                <a:latin typeface="HK Grotesk"/>
                <a:ea typeface="HK Grotesk"/>
                <a:cs typeface="HK Grotesk"/>
                <a:sym typeface="HK Grotesk"/>
              </a:rPr>
              <a:t>Day-wise syllabus breakdown.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4A6E8F"/>
                </a:solidFill>
                <a:latin typeface="HK Grotesk"/>
                <a:ea typeface="HK Grotesk"/>
                <a:cs typeface="HK Grotesk"/>
                <a:sym typeface="HK Grotesk"/>
              </a:rPr>
              <a:t>Calendar-Style Visualization.📆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4A6E8F"/>
                </a:solidFill>
                <a:latin typeface="HK Grotesk"/>
                <a:ea typeface="HK Grotesk"/>
                <a:cs typeface="HK Grotesk"/>
                <a:sym typeface="HK Grotesk"/>
              </a:rPr>
              <a:t>Separate section of last-minute tips. 💡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4A6E8F"/>
                </a:solidFill>
                <a:latin typeface="HK Grotesk"/>
                <a:ea typeface="HK Grotesk"/>
                <a:cs typeface="HK Grotesk"/>
                <a:sym typeface="HK Grotesk"/>
              </a:rPr>
              <a:t>User-friendly interface.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-450717" y="440438"/>
            <a:ext cx="8485011" cy="7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8"/>
              </a:lnSpc>
              <a:spcBef>
                <a:spcPct val="0"/>
              </a:spcBef>
            </a:pPr>
            <a:r>
              <a:rPr lang="en-US" sz="5728" u="sng">
                <a:solidFill>
                  <a:srgbClr val="34618B"/>
                </a:solidFill>
                <a:latin typeface="Gagalin"/>
                <a:ea typeface="Gagalin"/>
                <a:cs typeface="Gagalin"/>
                <a:sym typeface="Gagalin"/>
              </a:rPr>
              <a:t>AGENT WORKFLOW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5312" y="1920397"/>
            <a:ext cx="8324850" cy="230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99"/>
              </a:lnSpc>
              <a:spcBef>
                <a:spcPct val="0"/>
              </a:spcBef>
            </a:pPr>
            <a:r>
              <a:rPr lang="en-US" sz="8899" spc="-266" strike="noStrike" u="sng">
                <a:solidFill>
                  <a:srgbClr val="4A6E8F"/>
                </a:solidFill>
                <a:latin typeface="Gagalin"/>
                <a:ea typeface="Gagalin"/>
                <a:cs typeface="Gagalin"/>
                <a:sym typeface="Gagalin"/>
              </a:rPr>
              <a:t>User Interface Screenshots</a:t>
            </a:r>
          </a:p>
        </p:txBody>
      </p:sp>
      <p:grpSp>
        <p:nvGrpSpPr>
          <p:cNvPr name="Group 3" id="3"/>
          <p:cNvGrpSpPr/>
          <p:nvPr/>
        </p:nvGrpSpPr>
        <p:grpSpPr>
          <a:xfrm rot="-5269783">
            <a:off x="-1324476" y="7105682"/>
            <a:ext cx="3467057" cy="4305236"/>
            <a:chOff x="0" y="0"/>
            <a:chExt cx="4622743" cy="5740315"/>
          </a:xfrm>
        </p:grpSpPr>
        <p:sp>
          <p:nvSpPr>
            <p:cNvPr name="Freeform 4" id="4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4A6E8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8" id="8"/>
          <p:cNvSpPr/>
          <p:nvPr/>
        </p:nvSpPr>
        <p:spPr>
          <a:xfrm flipH="false" flipV="false" rot="0">
            <a:off x="8705183" y="683136"/>
            <a:ext cx="9428726" cy="4360786"/>
          </a:xfrm>
          <a:custGeom>
            <a:avLst/>
            <a:gdLst/>
            <a:ahLst/>
            <a:cxnLst/>
            <a:rect r="r" b="b" t="t" l="l"/>
            <a:pathLst>
              <a:path h="4360786" w="9428726">
                <a:moveTo>
                  <a:pt x="0" y="0"/>
                </a:moveTo>
                <a:lnTo>
                  <a:pt x="9428726" y="0"/>
                </a:lnTo>
                <a:lnTo>
                  <a:pt x="9428726" y="4360785"/>
                </a:lnTo>
                <a:lnTo>
                  <a:pt x="0" y="4360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05183" y="5143500"/>
            <a:ext cx="9428726" cy="4258594"/>
          </a:xfrm>
          <a:custGeom>
            <a:avLst/>
            <a:gdLst/>
            <a:ahLst/>
            <a:cxnLst/>
            <a:rect r="r" b="b" t="t" l="l"/>
            <a:pathLst>
              <a:path h="4258594" w="9428726">
                <a:moveTo>
                  <a:pt x="0" y="0"/>
                </a:moveTo>
                <a:lnTo>
                  <a:pt x="9428726" y="0"/>
                </a:lnTo>
                <a:lnTo>
                  <a:pt x="9428726" y="4258594"/>
                </a:lnTo>
                <a:lnTo>
                  <a:pt x="0" y="4258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5" t="0" r="-1001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9053" y="5034396"/>
            <a:ext cx="906109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0"/>
              </a:lnSpc>
              <a:spcBef>
                <a:spcPct val="0"/>
              </a:spcBef>
            </a:pPr>
            <a:r>
              <a:rPr lang="en-US" b="true" sz="2350" u="sng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Project Link:-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7231" y="5645456"/>
            <a:ext cx="6082743" cy="31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40" u="sng">
                <a:solidFill>
                  <a:srgbClr val="065DD1"/>
                </a:solidFill>
                <a:latin typeface="Arimo"/>
                <a:ea typeface="Arimo"/>
                <a:cs typeface="Arimo"/>
                <a:sym typeface="Arimo"/>
                <a:hlinkClick r:id="rId6" tooltip="https://exam-planner-w3gayxhcc5qo6dgmfhgvyu.streamlit.app"/>
              </a:rPr>
              <a:t>https://exam-planner-w3gayxhcc5qo6dgmfhgvyu.streamlit.app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93924" y="6934200"/>
            <a:ext cx="3467057" cy="4305236"/>
            <a:chOff x="0" y="0"/>
            <a:chExt cx="4622743" cy="5740315"/>
          </a:xfrm>
        </p:grpSpPr>
        <p:sp>
          <p:nvSpPr>
            <p:cNvPr name="Freeform 3" id="3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4A6E8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7" id="7"/>
          <p:cNvSpPr/>
          <p:nvPr/>
        </p:nvSpPr>
        <p:spPr>
          <a:xfrm>
            <a:off x="8971767" y="1362205"/>
            <a:ext cx="0" cy="8389620"/>
          </a:xfrm>
          <a:prstGeom prst="line">
            <a:avLst/>
          </a:prstGeom>
          <a:ln cap="flat" w="38100">
            <a:solidFill>
              <a:srgbClr val="34618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032299" y="606103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56559" y="588879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432603" y="696992"/>
            <a:ext cx="8485011" cy="7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8"/>
              </a:lnSpc>
              <a:spcBef>
                <a:spcPct val="0"/>
              </a:spcBef>
            </a:pPr>
            <a:r>
              <a:rPr lang="en-US" sz="5728" u="sng">
                <a:solidFill>
                  <a:srgbClr val="34618B"/>
                </a:solidFill>
                <a:latin typeface="Gagalin"/>
                <a:ea typeface="Gagalin"/>
                <a:cs typeface="Gagalin"/>
                <a:sym typeface="Gagalin"/>
              </a:rPr>
              <a:t>FUTURE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0301" y="696992"/>
            <a:ext cx="8485011" cy="7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8"/>
              </a:lnSpc>
              <a:spcBef>
                <a:spcPct val="0"/>
              </a:spcBef>
            </a:pPr>
            <a:r>
              <a:rPr lang="en-US" sz="5728" u="sng">
                <a:solidFill>
                  <a:srgbClr val="34618B"/>
                </a:solidFill>
                <a:latin typeface="Gagalin"/>
                <a:ea typeface="Gagalin"/>
                <a:cs typeface="Gagalin"/>
                <a:sym typeface="Gagalin"/>
              </a:rPr>
              <a:t>results &amp; impacts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311803" y="2108613"/>
            <a:ext cx="6416277" cy="3426444"/>
            <a:chOff x="0" y="0"/>
            <a:chExt cx="8555036" cy="456859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8237372" cy="1092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017" indent="-294009" lvl="1">
                <a:lnSpc>
                  <a:spcPts val="3268"/>
                </a:lnSpc>
                <a:buFont typeface="Arial"/>
                <a:buChar char="•"/>
              </a:pPr>
              <a:r>
                <a:rPr lang="en-US" b="true" sz="2723">
                  <a:solidFill>
                    <a:srgbClr val="68747D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Progress Tracking  System &amp; Adaptive Rescheduling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772954"/>
              <a:ext cx="8555036" cy="546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017" indent="-294009" lvl="1">
                <a:lnSpc>
                  <a:spcPts val="3268"/>
                </a:lnSpc>
                <a:buFont typeface="Arial"/>
                <a:buChar char="•"/>
              </a:pPr>
              <a:r>
                <a:rPr lang="en-US" b="true" sz="2723">
                  <a:solidFill>
                    <a:srgbClr val="68747D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Export Plan to PDF or Calendar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523814"/>
              <a:ext cx="7369091" cy="546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017" indent="-294009" lvl="1">
                <a:lnSpc>
                  <a:spcPts val="3268"/>
                </a:lnSpc>
                <a:buFont typeface="Arial"/>
                <a:buChar char="•"/>
              </a:pPr>
              <a:r>
                <a:rPr lang="en-US" b="true" sz="2723">
                  <a:solidFill>
                    <a:srgbClr val="68747D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Adaptive Rescheduling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022093"/>
              <a:ext cx="8555036" cy="546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017" indent="-294009" lvl="1">
                <a:lnSpc>
                  <a:spcPts val="3268"/>
                </a:lnSpc>
                <a:buFont typeface="Arial"/>
                <a:buChar char="•"/>
              </a:pPr>
              <a:r>
                <a:rPr lang="en-US" b="true" sz="2723">
                  <a:solidFill>
                    <a:srgbClr val="68747D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User Login &amp; Profile Management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64668" y="1494699"/>
            <a:ext cx="6416277" cy="4654272"/>
            <a:chOff x="0" y="0"/>
            <a:chExt cx="8555036" cy="620569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0"/>
              <a:ext cx="8237372" cy="1092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017" indent="-294009" lvl="1">
                <a:lnSpc>
                  <a:spcPts val="3268"/>
                </a:lnSpc>
                <a:buFont typeface="Arial"/>
                <a:buChar char="•"/>
              </a:pPr>
              <a:r>
                <a:rPr lang="en-US" b="true" sz="2723">
                  <a:solidFill>
                    <a:srgbClr val="68747D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Reduced manual effort in exam planning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3318655"/>
              <a:ext cx="8555036" cy="1092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018" indent="-294009" lvl="1">
                <a:lnSpc>
                  <a:spcPts val="3268"/>
                </a:lnSpc>
                <a:buFont typeface="Arial"/>
                <a:buChar char="•"/>
              </a:pPr>
              <a:r>
                <a:rPr lang="en-US" b="true" sz="2723">
                  <a:solidFill>
                    <a:srgbClr val="68747D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Helps students manage time more effectively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523814"/>
              <a:ext cx="7369091" cy="1092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018" indent="-294009" lvl="1">
                <a:lnSpc>
                  <a:spcPts val="3268"/>
                </a:lnSpc>
                <a:buFont typeface="Arial"/>
                <a:buChar char="•"/>
              </a:pPr>
              <a:r>
                <a:rPr lang="en-US" b="true" sz="2723">
                  <a:solidFill>
                    <a:srgbClr val="68747D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Provides clear daily study direction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5113496"/>
              <a:ext cx="8555036" cy="1092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018" indent="-294009" lvl="1">
                <a:lnSpc>
                  <a:spcPts val="3268"/>
                </a:lnSpc>
                <a:buFont typeface="Arial"/>
                <a:buChar char="•"/>
              </a:pPr>
              <a:r>
                <a:rPr lang="en-US" b="true" sz="2723">
                  <a:solidFill>
                    <a:srgbClr val="68747D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Demonstrates practical use of Agentic AI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21704" y="0"/>
            <a:ext cx="19894463" cy="10573533"/>
          </a:xfrm>
          <a:custGeom>
            <a:avLst/>
            <a:gdLst/>
            <a:ahLst/>
            <a:cxnLst/>
            <a:rect r="r" b="b" t="t" l="l"/>
            <a:pathLst>
              <a:path h="10573533" w="19894463">
                <a:moveTo>
                  <a:pt x="0" y="0"/>
                </a:moveTo>
                <a:lnTo>
                  <a:pt x="19894463" y="0"/>
                </a:lnTo>
                <a:lnTo>
                  <a:pt x="19894463" y="10573533"/>
                </a:lnTo>
                <a:lnTo>
                  <a:pt x="0" y="10573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431" r="0" b="-4272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Exam Planner – AI-Based Study Planning System</dc:description>
  <dc:identifier>DAG7x1jw8hg</dc:identifier>
  <dcterms:modified xsi:type="dcterms:W3CDTF">2011-08-01T06:04:30Z</dcterms:modified>
  <cp:revision>1</cp:revision>
  <dc:title>Presentation - Exam Planner – AI-Based Study Planning System</dc:title>
</cp:coreProperties>
</file>